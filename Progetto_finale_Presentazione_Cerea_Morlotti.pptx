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7F-4EB2-B882-C75F952DFF49}"/>
              </c:ext>
            </c:extLst>
          </c:dPt>
          <c:dPt>
            <c:idx val="1"/>
            <c:bubble3D val="0"/>
            <c:spPr>
              <a:solidFill>
                <a:srgbClr val="C98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7F-4EB2-B882-C75F952DFF4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7F-4EB2-B882-C75F952DFF4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7F-4EB2-B882-C75F952DFF4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(88%)</c:v>
                </c:pt>
                <c:pt idx="1">
                  <c:v>Sì (12%)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7F-4EB2-B882-C75F952DF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47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33088" y="274320"/>
            <a:ext cx="868680" cy="86868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piggyba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258" y="491490"/>
            <a:ext cx="434340" cy="434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MACHINE LEARNING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609344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PREVISIONE DEPOSITI BANCARI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097280" y="239572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modello di machine learning per capire, tra i clienti contattati,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sottoscriverà un deposito a termine.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 Gianluca   ·   Andrea Morlotti</a:t>
            </a:r>
            <a:endParaRPr lang="en-US" sz="1250" dirty="0"/>
          </a:p>
        </p:txBody>
      </p:sp>
      <p:sp>
        <p:nvSpPr>
          <p:cNvPr id="100" name="Dataset URL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i="1" dirty="0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77D6DA0C-7404-05A4-160B-91D534811FD1}"/>
              </a:ext>
            </a:extLst>
          </p:cNvPr>
          <p:cNvSpPr/>
          <p:nvPr/>
        </p:nvSpPr>
        <p:spPr>
          <a:xfrm>
            <a:off x="1097280" y="4187952"/>
            <a:ext cx="7132320" cy="63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archive.ics.uci.edu/dataset/222/</a:t>
            </a:r>
            <a:r>
              <a:rPr lang="en-US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bank+marketing</a:t>
            </a:r>
            <a:endParaRPr lang="en-US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CONTESTO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progetto in breve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078992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banca portoghese ha contattato migliaia di clienti per proporre un deposito a termine: vogliamo prevedere chi accetterà.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627632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7007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45.211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contatti analizzati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862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48640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 analizzate + target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682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79222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cliente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840480" y="1901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education, marital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46120" y="2761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wal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27066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Situazione finanziaria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840480" y="2980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housing, loan, default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4612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s/ph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39502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40480" y="37856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contatti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384048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duration, month, campaign, pdays, previous, poutcome</a:t>
            </a:r>
            <a:endParaRPr lang="en-US" sz="10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263640" y="1508760"/>
          <a:ext cx="24231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Text 19"/>
          <p:cNvSpPr/>
          <p:nvPr/>
        </p:nvSpPr>
        <p:spPr>
          <a:xfrm>
            <a:off x="6035040" y="1298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variabile target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del dataset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078992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split è stato eseguito prima di calcolare qualsiasi statistica, per evitare data leakage tra train e test.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071616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6656832" y="17830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C98A2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929384"/>
            <a:ext cx="6071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 80%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313432"/>
            <a:ext cx="6071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36.223 righe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20256" y="17602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8.988 righe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4" name="Image 1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0273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34747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con seed fisso (42), per risultati riproducibili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7" name="Image 2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059936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931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moda e deviazione standard calcolate solo sul train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20" name="Image 3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51713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43891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puliti salvati come tabelle Delta nel Lakehouse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mancanti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078992" y="10058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 non contiene NaN in senso tecnico: le informazioni assenti sono segnate come testo “unknown”, qui trattate come NaN.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39319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Variabile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Unknown count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Unknown 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poutcome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29.560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81,73%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contact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10.385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28,71%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education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1.483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4,10%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job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233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0,64%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800600" y="18288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0" y="1965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poutcome è “unknown” nell'81,7% dei casi: non è un dato mancante a caso, ma il segnale che il cliente non era mai stato contattato prima.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00600" y="33375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29200" y="3474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 job: “unknown” imputato con la moda, calcolata per gruppo in base al lavoro del cliente.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estremi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078992" y="1005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di outliers, dovuta al fatto che alcune variabili presentano una distribuzione fortemente sbilanciata (metodo IQR).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6334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Colonna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IQR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Lower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Upper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Outliers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pdays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6.612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18,28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previous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6.612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18,28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balance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70,0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1.429,0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1.359,0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-1.968,5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3.467,5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3.788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10,47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103,0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318,0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215,0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-219,5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640,5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2.589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7,16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campaign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-2,0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6,0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2.467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6,82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33,0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48,0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15,0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10,5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70,5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1,08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day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8,0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21,0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13,0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-11,5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40,5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0,00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“anomali” di pdays e previous non sono veri outlier statistici: riflettono il codice convenzionale -1/0 dei clienti mai contattati prima, gestito con feature engineering anziché rimozione.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proj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influenza la scelta del cliente?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393192" y="1051560"/>
            <a:ext cx="4234335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1" descr="figs/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61288"/>
            <a:ext cx="4014879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192" y="4882896"/>
            <a:ext cx="423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(quasi continue) · Cramér's V (categoriali)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974999" y="1280160"/>
            <a:ext cx="3711801" cy="3108960"/>
          </a:xfrm>
          <a:prstGeom prst="roundRect">
            <a:avLst>
              <a:gd name="adj" fmla="val 2353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203599" y="1481328"/>
            <a:ext cx="325460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è il fattore più legato a y (0,39), seguito da poutcome (0,31) e month (0,26).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203599" y="2377440"/>
            <a:ext cx="325460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non viene usata nei modelli: si conosce solo a chiamata conclusa, quando la decisione è già presa (data leakage).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203599" y="3383280"/>
            <a:ext cx="325460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pdays e poutcome sono fortemente legate tra loro (0,88): codificano entrambe lo storico di contatto del cliente.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 DEI DATI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Pre-processing e Features engineering</a:t>
            </a:r>
            <a:endParaRPr lang="en-US" sz="2500" dirty="0"/>
          </a:p>
        </p:txBody>
      </p:sp>
      <p:sp>
        <p:nvSpPr>
          <p:cNvPr id="30" name="Shape FE1"/>
          <p:cNvSpPr/>
          <p:nvPr/>
        </p:nvSpPr>
        <p:spPr>
          <a:xfrm>
            <a:off x="502920" y="1295400"/>
            <a:ext cx="292608" cy="292608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1" name="Image FE1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368552"/>
            <a:ext cx="146304" cy="146304"/>
          </a:xfrm>
          <a:prstGeom prst="rect">
            <a:avLst/>
          </a:prstGeom>
        </p:spPr>
      </p:pic>
      <p:sp>
        <p:nvSpPr>
          <p:cNvPr id="32" name="Text FE1"/>
          <p:cNvSpPr/>
          <p:nvPr/>
        </p:nvSpPr>
        <p:spPr>
          <a:xfrm>
            <a:off x="932688" y="1234440"/>
            <a:ext cx="441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Rimossi i contatti duplicati</a:t>
            </a:r>
            <a:endParaRPr lang="en-US" sz="1100" dirty="0"/>
          </a:p>
        </p:txBody>
      </p:sp>
      <p:sp>
        <p:nvSpPr>
          <p:cNvPr id="33" name="Shape FE2"/>
          <p:cNvSpPr/>
          <p:nvPr/>
        </p:nvSpPr>
        <p:spPr>
          <a:xfrm>
            <a:off x="502920" y="1798320"/>
            <a:ext cx="292608" cy="292608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4" name="Image FE2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871472"/>
            <a:ext cx="146304" cy="146304"/>
          </a:xfrm>
          <a:prstGeom prst="rect">
            <a:avLst/>
          </a:prstGeom>
        </p:spPr>
      </p:pic>
      <p:sp>
        <p:nvSpPr>
          <p:cNvPr id="35" name="Text FE2"/>
          <p:cNvSpPr/>
          <p:nvPr/>
        </p:nvSpPr>
        <p:spPr>
          <a:xfrm>
            <a:off x="932688" y="1737360"/>
            <a:ext cx="441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“Unknown” imputato con la moda, calcolata per gruppo (job)</a:t>
            </a:r>
            <a:endParaRPr lang="en-US" sz="1100" dirty="0"/>
          </a:p>
        </p:txBody>
      </p:sp>
      <p:sp>
        <p:nvSpPr>
          <p:cNvPr id="36" name="Shape FE3"/>
          <p:cNvSpPr/>
          <p:nvPr/>
        </p:nvSpPr>
        <p:spPr>
          <a:xfrm>
            <a:off x="502920" y="2301240"/>
            <a:ext cx="292608" cy="292608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7" name="Image FE3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374392"/>
            <a:ext cx="146304" cy="146304"/>
          </a:xfrm>
          <a:prstGeom prst="rect">
            <a:avLst/>
          </a:prstGeom>
        </p:spPr>
      </p:pic>
      <p:sp>
        <p:nvSpPr>
          <p:cNvPr id="38" name="Text FE3"/>
          <p:cNvSpPr/>
          <p:nvPr/>
        </p:nvSpPr>
        <p:spPr>
          <a:xfrm>
            <a:off x="932688" y="2240280"/>
            <a:ext cx="441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a segno preservato su balance, per ridurre l’asimmetria</a:t>
            </a:r>
            <a:endParaRPr lang="en-US" sz="1100" dirty="0"/>
          </a:p>
        </p:txBody>
      </p:sp>
      <p:sp>
        <p:nvSpPr>
          <p:cNvPr id="39" name="Shape FE4"/>
          <p:cNvSpPr/>
          <p:nvPr/>
        </p:nvSpPr>
        <p:spPr>
          <a:xfrm>
            <a:off x="502920" y="2804160"/>
            <a:ext cx="292608" cy="292608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40" name="Image FE4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877312"/>
            <a:ext cx="146304" cy="146304"/>
          </a:xfrm>
          <a:prstGeom prst="rect">
            <a:avLst/>
          </a:prstGeom>
        </p:spPr>
      </p:pic>
      <p:sp>
        <p:nvSpPr>
          <p:cNvPr id="41" name="Text FE4"/>
          <p:cNvSpPr/>
          <p:nvPr/>
        </p:nvSpPr>
        <p:spPr>
          <a:xfrm>
            <a:off x="932688" y="2743200"/>
            <a:ext cx="441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 z-score delle variabili quasi continue (solo sul train)</a:t>
            </a:r>
            <a:endParaRPr lang="en-US" sz="1100" dirty="0"/>
          </a:p>
        </p:txBody>
      </p:sp>
      <p:sp>
        <p:nvSpPr>
          <p:cNvPr id="42" name="Shape FE5"/>
          <p:cNvSpPr/>
          <p:nvPr/>
        </p:nvSpPr>
        <p:spPr>
          <a:xfrm>
            <a:off x="502920" y="3307080"/>
            <a:ext cx="292608" cy="292608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43" name="Image FE5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380232"/>
            <a:ext cx="146304" cy="146304"/>
          </a:xfrm>
          <a:prstGeom prst="rect">
            <a:avLst/>
          </a:prstGeom>
        </p:spPr>
      </p:pic>
      <p:sp>
        <p:nvSpPr>
          <p:cNvPr id="44" name="Text FE5"/>
          <p:cNvSpPr/>
          <p:nvPr/>
        </p:nvSpPr>
        <p:spPr>
          <a:xfrm>
            <a:off x="932688" y="3246120"/>
            <a:ext cx="441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binario (yes/no) e one-hot k-1 per le categoriali multiclasse</a:t>
            </a:r>
            <a:endParaRPr lang="en-US" sz="1100" dirty="0"/>
          </a:p>
        </p:txBody>
      </p:sp>
      <p:sp>
        <p:nvSpPr>
          <p:cNvPr id="45" name="Text FE6"/>
          <p:cNvSpPr/>
          <p:nvPr/>
        </p:nvSpPr>
        <p:spPr>
          <a:xfrm>
            <a:off x="548640" y="3886200"/>
            <a:ext cx="441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nuove feature per lo storico contatti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0" y="1325880"/>
            <a:ext cx="315468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687568" y="1527048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16" name="Image 3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38" y="1629918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1453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previous_contacted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09360" y="1801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1 se previous &gt; 0, 0 altrimenti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0" y="2697480"/>
            <a:ext cx="315468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687568" y="2898648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21" name="Image 4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38" y="3001518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309360" y="3172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1 se pdays &gt; -1, 0 altrimenti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 DELLE VARIABILI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guarda di più il modello</a:t>
            </a:r>
            <a:endParaRPr lang="en-US" sz="2500" dirty="0"/>
          </a:p>
        </p:txBody>
      </p:sp>
      <p:sp>
        <p:nvSpPr>
          <p:cNvPr id="6" name="Subtitle"/>
          <p:cNvSpPr/>
          <p:nvPr/>
        </p:nvSpPr>
        <p:spPr>
          <a:xfrm>
            <a:off x="1078992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8 variabili più rilevanti per RandomForest_Tuned (duration esclusa per data leakage).</a:t>
            </a:r>
            <a:endParaRPr lang="en-US" sz="1200" dirty="0"/>
          </a:p>
        </p:txBody>
      </p:sp>
      <p:sp>
        <p:nvSpPr>
          <p:cNvPr id="10" name="Label1"/>
          <p:cNvSpPr/>
          <p:nvPr/>
        </p:nvSpPr>
        <p:spPr>
          <a:xfrm>
            <a:off x="502920" y="148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contact_unknown</a:t>
            </a:r>
          </a:p>
        </p:txBody>
      </p:sp>
      <p:sp>
        <p:nvSpPr>
          <p:cNvPr id="11" name="Bar1"/>
          <p:cNvSpPr/>
          <p:nvPr/>
        </p:nvSpPr>
        <p:spPr>
          <a:xfrm>
            <a:off x="2280000" y="1471328"/>
            <a:ext cx="2750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2" name="Val1"/>
          <p:cNvSpPr/>
          <p:nvPr/>
        </p:nvSpPr>
        <p:spPr>
          <a:xfrm>
            <a:off x="5110000" y="147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0,133</a:t>
            </a:r>
          </a:p>
        </p:txBody>
      </p:sp>
      <p:sp>
        <p:nvSpPr>
          <p:cNvPr id="13" name="Label2"/>
          <p:cNvSpPr/>
          <p:nvPr/>
        </p:nvSpPr>
        <p:spPr>
          <a:xfrm>
            <a:off x="502920" y="191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pdays</a:t>
            </a:r>
          </a:p>
        </p:txBody>
      </p:sp>
      <p:sp>
        <p:nvSpPr>
          <p:cNvPr id="14" name="Bar2"/>
          <p:cNvSpPr/>
          <p:nvPr/>
        </p:nvSpPr>
        <p:spPr>
          <a:xfrm>
            <a:off x="2280000" y="1901328"/>
            <a:ext cx="2233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5" name="Val2"/>
          <p:cNvSpPr/>
          <p:nvPr/>
        </p:nvSpPr>
        <p:spPr>
          <a:xfrm>
            <a:off x="4593000" y="190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0,108</a:t>
            </a:r>
          </a:p>
        </p:txBody>
      </p:sp>
      <p:sp>
        <p:nvSpPr>
          <p:cNvPr id="16" name="Label3"/>
          <p:cNvSpPr/>
          <p:nvPr/>
        </p:nvSpPr>
        <p:spPr>
          <a:xfrm>
            <a:off x="502920" y="234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age</a:t>
            </a:r>
          </a:p>
        </p:txBody>
      </p:sp>
      <p:sp>
        <p:nvSpPr>
          <p:cNvPr id="17" name="Bar3"/>
          <p:cNvSpPr/>
          <p:nvPr/>
        </p:nvSpPr>
        <p:spPr>
          <a:xfrm>
            <a:off x="2280000" y="2331328"/>
            <a:ext cx="2131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8" name="Val3"/>
          <p:cNvSpPr/>
          <p:nvPr/>
        </p:nvSpPr>
        <p:spPr>
          <a:xfrm>
            <a:off x="4491000" y="233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0,103</a:t>
            </a:r>
          </a:p>
        </p:txBody>
      </p:sp>
      <p:sp>
        <p:nvSpPr>
          <p:cNvPr id="19" name="Label4"/>
          <p:cNvSpPr/>
          <p:nvPr/>
        </p:nvSpPr>
        <p:spPr>
          <a:xfrm>
            <a:off x="502920" y="277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housing</a:t>
            </a:r>
          </a:p>
        </p:txBody>
      </p:sp>
      <p:sp>
        <p:nvSpPr>
          <p:cNvPr id="20" name="Bar4"/>
          <p:cNvSpPr/>
          <p:nvPr/>
        </p:nvSpPr>
        <p:spPr>
          <a:xfrm>
            <a:off x="2280000" y="2761328"/>
            <a:ext cx="2006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1" name="Val4"/>
          <p:cNvSpPr/>
          <p:nvPr/>
        </p:nvSpPr>
        <p:spPr>
          <a:xfrm>
            <a:off x="4366000" y="276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0,097</a:t>
            </a:r>
          </a:p>
        </p:txBody>
      </p:sp>
      <p:sp>
        <p:nvSpPr>
          <p:cNvPr id="22" name="Label5"/>
          <p:cNvSpPr/>
          <p:nvPr/>
        </p:nvSpPr>
        <p:spPr>
          <a:xfrm>
            <a:off x="502920" y="320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balance</a:t>
            </a:r>
          </a:p>
        </p:txBody>
      </p:sp>
      <p:sp>
        <p:nvSpPr>
          <p:cNvPr id="23" name="Bar5"/>
          <p:cNvSpPr/>
          <p:nvPr/>
        </p:nvSpPr>
        <p:spPr>
          <a:xfrm>
            <a:off x="2280000" y="3191328"/>
            <a:ext cx="1716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4" name="Val5"/>
          <p:cNvSpPr/>
          <p:nvPr/>
        </p:nvSpPr>
        <p:spPr>
          <a:xfrm>
            <a:off x="4076000" y="319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0,083</a:t>
            </a:r>
          </a:p>
        </p:txBody>
      </p:sp>
      <p:sp>
        <p:nvSpPr>
          <p:cNvPr id="25" name="Label6"/>
          <p:cNvSpPr/>
          <p:nvPr/>
        </p:nvSpPr>
        <p:spPr>
          <a:xfrm>
            <a:off x="502920" y="363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</a:rPr>
              <a:t>previous</a:t>
            </a:r>
          </a:p>
        </p:txBody>
      </p:sp>
      <p:sp>
        <p:nvSpPr>
          <p:cNvPr id="26" name="Bar6"/>
          <p:cNvSpPr/>
          <p:nvPr/>
        </p:nvSpPr>
        <p:spPr>
          <a:xfrm>
            <a:off x="2280000" y="3621328"/>
            <a:ext cx="1034000" cy="2600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27" name="Val6"/>
          <p:cNvSpPr/>
          <p:nvPr/>
        </p:nvSpPr>
        <p:spPr>
          <a:xfrm>
            <a:off x="3394000" y="362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0,050</a:t>
            </a:r>
          </a:p>
        </p:txBody>
      </p:sp>
      <p:sp>
        <p:nvSpPr>
          <p:cNvPr id="28" name="Label7"/>
          <p:cNvSpPr/>
          <p:nvPr/>
        </p:nvSpPr>
        <p:spPr>
          <a:xfrm>
            <a:off x="502920" y="406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A2B"/>
                </a:solidFill>
                <a:latin typeface="Calibri" pitchFamily="34" charset="0"/>
              </a:rPr>
              <a:t>recall</a:t>
            </a:r>
          </a:p>
        </p:txBody>
      </p:sp>
      <p:sp>
        <p:nvSpPr>
          <p:cNvPr id="29" name="Bar7"/>
          <p:cNvSpPr/>
          <p:nvPr/>
        </p:nvSpPr>
        <p:spPr>
          <a:xfrm>
            <a:off x="2280000" y="4051328"/>
            <a:ext cx="848000" cy="260000"/>
          </a:xfrm>
          <a:prstGeom prst="roundRect">
            <a:avLst>
              <a:gd name="adj" fmla="val 25000"/>
            </a:avLst>
          </a:prstGeom>
          <a:solidFill>
            <a:srgbClr val="C98A2B"/>
          </a:solidFill>
          <a:ln/>
        </p:spPr>
      </p:sp>
      <p:sp>
        <p:nvSpPr>
          <p:cNvPr id="61" name="Val7"/>
          <p:cNvSpPr/>
          <p:nvPr/>
        </p:nvSpPr>
        <p:spPr>
          <a:xfrm>
            <a:off x="3208000" y="405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0,041</a:t>
            </a:r>
          </a:p>
        </p:txBody>
      </p:sp>
      <p:sp>
        <p:nvSpPr>
          <p:cNvPr id="62" name="Label8"/>
          <p:cNvSpPr/>
          <p:nvPr/>
        </p:nvSpPr>
        <p:spPr>
          <a:xfrm>
            <a:off x="502920" y="4491328"/>
            <a:ext cx="17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8A2B"/>
                </a:solidFill>
                <a:latin typeface="Calibri" pitchFamily="34" charset="0"/>
              </a:rPr>
              <a:t>previous_contacted</a:t>
            </a:r>
          </a:p>
        </p:txBody>
      </p:sp>
      <p:sp>
        <p:nvSpPr>
          <p:cNvPr id="63" name="Bar8"/>
          <p:cNvSpPr/>
          <p:nvPr/>
        </p:nvSpPr>
        <p:spPr>
          <a:xfrm>
            <a:off x="2280000" y="4481328"/>
            <a:ext cx="786000" cy="260000"/>
          </a:xfrm>
          <a:prstGeom prst="roundRect">
            <a:avLst>
              <a:gd name="adj" fmla="val 25000"/>
            </a:avLst>
          </a:prstGeom>
          <a:solidFill>
            <a:srgbClr val="C98A2B"/>
          </a:solidFill>
          <a:ln/>
        </p:spPr>
      </p:sp>
      <p:sp>
        <p:nvSpPr>
          <p:cNvPr id="64" name="Val8"/>
          <p:cNvSpPr/>
          <p:nvPr/>
        </p:nvSpPr>
        <p:spPr>
          <a:xfrm>
            <a:off x="3146000" y="4481328"/>
            <a:ext cx="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5571"/>
                </a:solidFill>
                <a:latin typeface="Calibri" pitchFamily="34" charset="0"/>
              </a:rPr>
              <a:t>0,038</a:t>
            </a:r>
          </a:p>
        </p:txBody>
      </p:sp>
      <p:sp>
        <p:nvSpPr>
          <p:cNvPr id="65" name="InsightCardBg"/>
          <p:cNvSpPr/>
          <p:nvPr/>
        </p:nvSpPr>
        <p:spPr>
          <a:xfrm>
            <a:off x="5678512" y="1994645"/>
            <a:ext cx="2990000" cy="1616683"/>
          </a:xfrm>
          <a:prstGeom prst="roundRect">
            <a:avLst>
              <a:gd name="adj" fmla="val 4500"/>
            </a:avLst>
          </a:prstGeom>
          <a:solidFill>
            <a:srgbClr val="EEF2FC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8" name="Insight2Title"/>
          <p:cNvSpPr/>
          <p:nvPr/>
        </p:nvSpPr>
        <p:spPr>
          <a:xfrm>
            <a:off x="5894192" y="2068412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</a:rPr>
              <a:t>Variabili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</a:rPr>
              <a:t>più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</a:rPr>
              <a:t>importanti</a:t>
            </a:r>
            <a:endParaRPr lang="en-US" sz="1150" b="1" dirty="0">
              <a:solidFill>
                <a:srgbClr val="1E2761"/>
              </a:solidFill>
              <a:latin typeface="Calibri" pitchFamily="34" charset="0"/>
            </a:endParaRPr>
          </a:p>
        </p:txBody>
      </p:sp>
      <p:sp>
        <p:nvSpPr>
          <p:cNvPr id="69" name="Insight2Body"/>
          <p:cNvSpPr/>
          <p:nvPr/>
        </p:nvSpPr>
        <p:spPr>
          <a:xfrm>
            <a:off x="5895000" y="2298991"/>
            <a:ext cx="2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5571"/>
                </a:solidFill>
                <a:latin typeface="Calibri" pitchFamily="34" charset="0"/>
              </a:rPr>
              <a:t>contact_unknown, pdays, age, housing e balance pesano più di tutte le altre variabili messe insieme.</a:t>
            </a:r>
          </a:p>
        </p:txBody>
      </p:sp>
      <p:sp>
        <p:nvSpPr>
          <p:cNvPr id="70" name="Insight3Title"/>
          <p:cNvSpPr/>
          <p:nvPr/>
        </p:nvSpPr>
        <p:spPr>
          <a:xfrm>
            <a:off x="5894192" y="298987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98A2B"/>
                </a:solidFill>
                <a:latin typeface="Calibri" pitchFamily="34" charset="0"/>
              </a:rPr>
              <a:t>Le feature create funzionano</a:t>
            </a:r>
          </a:p>
        </p:txBody>
      </p:sp>
      <p:sp>
        <p:nvSpPr>
          <p:cNvPr id="71" name="Insight3Body"/>
          <p:cNvSpPr/>
          <p:nvPr/>
        </p:nvSpPr>
        <p:spPr>
          <a:xfrm>
            <a:off x="5895000" y="3191328"/>
            <a:ext cx="2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5571"/>
                </a:solidFill>
                <a:latin typeface="Calibri" pitchFamily="34" charset="0"/>
              </a:rPr>
              <a:t>recall e previous_contacted, costruite ad hoc, entrano comunque tra le variabili più rilevanti.</a:t>
            </a:r>
          </a:p>
        </p:txBody>
      </p:sp>
      <p:sp>
        <p:nvSpPr>
          <p:cNvPr id="8" name="Text 4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" y="5303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Metriche di validazione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078992" y="98755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sbilanciato (88% no / 12% sì): guidiamo la scelta con il ROC-AUC. Modello scelto: RandomForest_Tuned.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4663440" cy="323545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Rec.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RandomForest_Tuned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0,80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0,32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0,59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0,42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0,77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DeepLearning_Keras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0,58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0,40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XGBoost_Tuned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0,74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0,65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SVM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0,60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RandomForest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0,88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0,55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0,16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LogisticRegression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0,65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0,36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0,75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0,88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0,47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0,18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0,68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B5571"/>
                          </a:solidFill>
                        </a:rPr>
                        <a:t>DecisionTree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0,82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5571"/>
                          </a:solidFill>
                        </a:rPr>
                        <a:t>0,57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291928" y="1481328"/>
            <a:ext cx="3497905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9" name="Image 1" descr="fig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368" y="1572768"/>
            <a:ext cx="3315025" cy="278892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49240" y="4471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— RandomForest_Tuned (AUC = 0,769)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tool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" y="497205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46383" y="415651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Futuri</a:t>
            </a:r>
            <a:endParaRPr lang="en-US" sz="2500" dirty="0"/>
          </a:p>
        </p:txBody>
      </p:sp>
      <p:sp>
        <p:nvSpPr>
          <p:cNvPr id="50" name="Card1 Bg"/>
          <p:cNvSpPr/>
          <p:nvPr/>
        </p:nvSpPr>
        <p:spPr>
          <a:xfrm>
            <a:off x="502920" y="1325880"/>
            <a:ext cx="8138160" cy="1006856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1" name="Card1 Icon Circle"/>
          <p:cNvSpPr/>
          <p:nvPr/>
        </p:nvSpPr>
        <p:spPr>
          <a:xfrm>
            <a:off x="685800" y="1408308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2" name="Card1 Icon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11178"/>
            <a:ext cx="251460" cy="251460"/>
          </a:xfrm>
          <a:prstGeom prst="rect">
            <a:avLst/>
          </a:prstGeom>
        </p:spPr>
      </p:pic>
      <p:sp>
        <p:nvSpPr>
          <p:cNvPr id="53" name="Card1 Title"/>
          <p:cNvSpPr/>
          <p:nvPr/>
        </p:nvSpPr>
        <p:spPr>
          <a:xfrm>
            <a:off x="1326744" y="1454028"/>
            <a:ext cx="713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Oltre la singola banca</a:t>
            </a:r>
            <a:endParaRPr lang="en-US" sz="1500" dirty="0"/>
          </a:p>
        </p:txBody>
      </p:sp>
      <p:sp>
        <p:nvSpPr>
          <p:cNvPr id="54" name="Card1 Desc"/>
          <p:cNvSpPr/>
          <p:nvPr/>
        </p:nvSpPr>
        <p:spPr>
          <a:xfrm>
            <a:off x="1326744" y="1828800"/>
            <a:ext cx="7131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il modello su dataset di altre banche e contesti geografici, per verificare che i pattern individuati non siano specifici del Portogallo.</a:t>
            </a:r>
            <a:endParaRPr lang="en-US" sz="1200" dirty="0"/>
          </a:p>
        </p:txBody>
      </p:sp>
      <p:sp>
        <p:nvSpPr>
          <p:cNvPr id="55" name="Card2 Bg"/>
          <p:cNvSpPr/>
          <p:nvPr/>
        </p:nvSpPr>
        <p:spPr>
          <a:xfrm>
            <a:off x="497743" y="2961396"/>
            <a:ext cx="8138160" cy="1008624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6" name="Card2 Icon Circle"/>
          <p:cNvSpPr/>
          <p:nvPr/>
        </p:nvSpPr>
        <p:spPr>
          <a:xfrm>
            <a:off x="658234" y="3010926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57" name="Card2 Icon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04" y="3113796"/>
            <a:ext cx="251460" cy="251460"/>
          </a:xfrm>
          <a:prstGeom prst="rect">
            <a:avLst/>
          </a:prstGeom>
        </p:spPr>
      </p:pic>
      <p:sp>
        <p:nvSpPr>
          <p:cNvPr id="58" name="Card2 Title"/>
          <p:cNvSpPr/>
          <p:nvPr/>
        </p:nvSpPr>
        <p:spPr>
          <a:xfrm>
            <a:off x="1326744" y="3021188"/>
            <a:ext cx="713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Ensamble</a:t>
            </a:r>
            <a:r>
              <a:rPr lang="en-US" sz="1500" b="1" dirty="0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 </a:t>
            </a:r>
            <a:r>
              <a:rPr lang="en-US" sz="1500" b="1" dirty="0" err="1">
                <a:solidFill>
                  <a:srgbClr val="C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</a:t>
            </a:r>
            <a:endParaRPr lang="en-US" sz="1500" dirty="0"/>
          </a:p>
        </p:txBody>
      </p:sp>
      <p:sp>
        <p:nvSpPr>
          <p:cNvPr id="59" name="Card2 Desc"/>
          <p:cNvSpPr/>
          <p:nvPr/>
        </p:nvSpPr>
        <p:spPr>
          <a:xfrm>
            <a:off x="1326744" y="3421380"/>
            <a:ext cx="7131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200" dirty="0">
                <a:solidFill>
                  <a:schemeClr val="bg1"/>
                </a:solidFill>
              </a:rPr>
              <a:t>Combinare le probabilità predette da modelli di natura diversa, tramite soft </a:t>
            </a:r>
            <a:r>
              <a:rPr lang="it-IT" sz="1200" dirty="0" err="1">
                <a:solidFill>
                  <a:schemeClr val="bg1"/>
                </a:solidFill>
              </a:rPr>
              <a:t>voting</a:t>
            </a:r>
            <a:r>
              <a:rPr lang="it-IT" sz="1200" dirty="0">
                <a:solidFill>
                  <a:schemeClr val="bg1"/>
                </a:solidFill>
              </a:rPr>
              <a:t>, sfruttando il fatto che modelli con </a:t>
            </a:r>
            <a:r>
              <a:rPr lang="it-IT" sz="1200" dirty="0" err="1">
                <a:solidFill>
                  <a:schemeClr val="bg1"/>
                </a:solidFill>
              </a:rPr>
              <a:t>bias</a:t>
            </a:r>
            <a:r>
              <a:rPr lang="it-IT" sz="1200" dirty="0">
                <a:solidFill>
                  <a:schemeClr val="bg1"/>
                </a:solidFill>
              </a:rPr>
              <a:t> differenti tendono a commettere errori </a:t>
            </a:r>
            <a:r>
              <a:rPr lang="it-IT" sz="1200" dirty="0" err="1">
                <a:solidFill>
                  <a:schemeClr val="bg1"/>
                </a:solidFill>
              </a:rPr>
              <a:t>scorrelati</a:t>
            </a:r>
            <a:r>
              <a:rPr lang="it-IT" sz="1200" dirty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0" name="Card2 Example"/>
          <p:cNvSpPr/>
          <p:nvPr/>
        </p:nvSpPr>
        <p:spPr>
          <a:xfrm>
            <a:off x="1326744" y="3566160"/>
            <a:ext cx="7131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i="1" dirty="0"/>
          </a:p>
        </p:txBody>
      </p:sp>
      <p:sp>
        <p:nvSpPr>
          <p:cNvPr id="24" name="Text 17"/>
          <p:cNvSpPr/>
          <p:nvPr/>
        </p:nvSpPr>
        <p:spPr>
          <a:xfrm>
            <a:off x="8412480" y="4773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ellipse">
            <a:avLst/>
          </a:prstGeom>
          <a:solidFill>
            <a:srgbClr val="C98A2B"/>
          </a:solidFill>
          <a:ln/>
        </p:spPr>
      </p:sp>
      <p:pic>
        <p:nvPicPr>
          <p:cNvPr id="3" name="Image 0" descr="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394" y="132359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 Gianluca   ·   Andrea Morlotti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885</Words>
  <Application>Microsoft Office PowerPoint</Application>
  <PresentationFormat>Presentazione su schermo (16:9)</PresentationFormat>
  <Paragraphs>252</Paragraphs>
  <Slides>11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Previsione Depositi Bancari</dc:title>
  <dc:subject>PptxGenJS Presentation</dc:subject>
  <dc:creator>Cerea Gianluca, Andrea Morlotti</dc:creator>
  <cp:lastModifiedBy>GIANLUCA CEREA</cp:lastModifiedBy>
  <cp:revision>7</cp:revision>
  <dcterms:created xsi:type="dcterms:W3CDTF">2026-06-29T09:09:32Z</dcterms:created>
  <dcterms:modified xsi:type="dcterms:W3CDTF">2026-06-30T09:44:49Z</dcterms:modified>
</cp:coreProperties>
</file>